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097280"/>
            <a:ext cx="9448495" cy="4663440"/>
          </a:xfrm>
          <a:prstGeom prst="roundRect">
            <a:avLst/>
          </a:prstGeom>
          <a:solidFill>
            <a:srgbClr val="182036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371600"/>
            <a:ext cx="85340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06B6D4"/>
                </a:solidFill>
                <a:latin typeface="Calibri"/>
              </a:defRPr>
            </a:pPr>
            <a:r>
              <a:t>INFOSYS SPRINGBOARD CAPSTONE PROJECT DEFENSE</a:t>
            </a:r>
          </a:p>
          <a:p>
            <a:pPr>
              <a:spcAft>
                <a:spcPts val="800"/>
              </a:spcAft>
              <a:defRPr sz="3800" b="1">
                <a:solidFill>
                  <a:srgbClr val="F8FAFC"/>
                </a:solidFill>
                <a:latin typeface="Calibri"/>
              </a:defRPr>
            </a:pPr>
            <a:r>
              <a:t>ProjectGuide-AI</a:t>
            </a:r>
          </a:p>
          <a:p>
            <a:pPr>
              <a:spcAft>
                <a:spcPts val="2400"/>
              </a:spcAft>
              <a:defRPr sz="1600">
                <a:solidFill>
                  <a:srgbClr val="6366F1"/>
                </a:solidFill>
                <a:latin typeface="Calibri"/>
              </a:defRPr>
            </a:pPr>
            <a:r>
              <a:t>Autonomous Multi-Agent Academic Mentoring, Project Tracking &amp; Faculty Governance Platform</a:t>
            </a:r>
          </a:p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• Domain: Agentic Artificial Intelligence &amp; Full-Stack Cloud Architecture</a:t>
            </a:r>
            <a:br/>
            <a:r>
              <a:t>• Core AI: Groq LLMs (LLaMA-3.3-70B), CrewAI Multi-Agent Sequential Pipelines</a:t>
            </a:r>
            <a:br/>
            <a:r>
              <a:t>• Tech Stack: FastAPI, React 19, MongoDB Atlas, Docker Containerization</a:t>
            </a:r>
            <a:br/>
            <a:r>
              <a:t>• Agile Framework: 8-Week Hybrid Scrumban (4 Sprints, 146 Story Points Delivered)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Calibri"/>
              </a:defRPr>
            </a:pPr>
            <a:r>
              <a:t>INFOSYS SPRINGBOARD 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Calibri"/>
              </a:defRPr>
            </a:pPr>
            <a:r>
              <a:t>The Academic Mentoring Dilemma: Problem Statement &amp; Motivation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82036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59E0B"/>
                </a:solidFill>
                <a:latin typeface="Calibri"/>
              </a:defRPr>
            </a:pPr>
            <a:r>
              <a:t>1. Student Ambiguity &amp; Creep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• Vague Scopes: </a:t>
            </a:r>
            <a:r>
              <a:rPr>
                <a:solidFill>
                  <a:srgbClr val="F8FAFC"/>
                </a:solidFill>
              </a:rPr>
              <a:t>Students propose vague or overly ambitious projects without boundary definitions.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• Scope Creep: </a:t>
            </a:r>
            <a:r>
              <a:rPr>
                <a:solidFill>
                  <a:srgbClr val="F8FAFC"/>
                </a:solidFill>
              </a:rPr>
              <a:t>Features multiply uncontrolled mid-semester, causing abandoned architectures.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• Stack Mismatch: </a:t>
            </a:r>
            <a:r>
              <a:rPr>
                <a:solidFill>
                  <a:srgbClr val="F8FAFC"/>
                </a:solidFill>
              </a:rPr>
              <a:t>Students select frameworks mismatched with their skill proficiencies.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• Impact: </a:t>
            </a:r>
            <a:r>
              <a:rPr>
                <a:solidFill>
                  <a:srgbClr val="F8FAFC"/>
                </a:solidFill>
              </a:rPr>
              <a:t>High failure rates and rushed, low-quality final year submissions.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182036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6366F1"/>
                </a:solidFill>
                <a:latin typeface="Calibri"/>
              </a:defRPr>
            </a:pPr>
            <a:r>
              <a:t>2. Faculty Supervision Bottleneck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• High Ratio: </a:t>
            </a:r>
            <a:r>
              <a:rPr>
                <a:solidFill>
                  <a:srgbClr val="F8FAFC"/>
                </a:solidFill>
              </a:rPr>
              <a:t>Faculty guides supervise 10–25 student teams simultaneously.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• Feedback Latency: </a:t>
            </a:r>
            <a:r>
              <a:rPr>
                <a:solidFill>
                  <a:srgbClr val="F8FAFC"/>
                </a:solidFill>
              </a:rPr>
              <a:t>Manual proposal and report reviews experience 2–3 weeks delay.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• Zero Real-Time Visibility: </a:t>
            </a:r>
            <a:r>
              <a:rPr>
                <a:solidFill>
                  <a:srgbClr val="F8FAFC"/>
                </a:solidFill>
              </a:rPr>
              <a:t>Guides discover team blockers only during mid-term or viva reviews.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• Administrative Drag: </a:t>
            </a:r>
            <a:r>
              <a:rPr>
                <a:solidFill>
                  <a:srgbClr val="F8FAFC"/>
                </a:solidFill>
              </a:rPr>
              <a:t>Supervisors spend 70% of time verifying basic formatting over pedagogy.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182036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6B6D4"/>
                </a:solidFill>
                <a:latin typeface="Calibri"/>
              </a:defRPr>
            </a:pPr>
            <a:r>
              <a:t>3. The Institutional Gap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• Fragmented Tools: </a:t>
            </a:r>
            <a:r>
              <a:rPr>
                <a:solidFill>
                  <a:srgbClr val="F8FAFC"/>
                </a:solidFill>
              </a:rPr>
              <a:t>Projects tracked across disjoint WhatsApp groups, spreadsheets, and emails.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• No Audit Trail: </a:t>
            </a:r>
            <a:r>
              <a:rPr>
                <a:solidFill>
                  <a:srgbClr val="F8FAFC"/>
                </a:solidFill>
              </a:rPr>
              <a:t>Absence of structured milestone sign-offs or versioned deliverables.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• Subjective Scoring: </a:t>
            </a:r>
            <a:r>
              <a:rPr>
                <a:solidFill>
                  <a:srgbClr val="F8FAFC"/>
                </a:solidFill>
              </a:rPr>
              <a:t>Evaluations vary widely due to lack of objective feasibility benchmarks.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• Our Vision: </a:t>
            </a:r>
            <a:r>
              <a:rPr>
                <a:solidFill>
                  <a:srgbClr val="F8FAFC"/>
                </a:solidFill>
              </a:rPr>
              <a:t>A centralized autonomous AI mentor that bridges students, guides, and departments.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Calibri"/>
              </a:defRPr>
            </a:pPr>
            <a:r>
              <a:t>INFOSYS SPRINGBOARD 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Calibri"/>
              </a:defRPr>
            </a:pPr>
            <a:r>
              <a:t>The Innovation: Autonomous Multi-Agent Mentoring Ecosystem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103120"/>
          </a:xfrm>
          <a:prstGeom prst="roundRect">
            <a:avLst/>
          </a:prstGeom>
          <a:solidFill>
            <a:srgbClr val="182036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6366F1"/>
                </a:solidFill>
                <a:latin typeface="Calibri"/>
              </a:defRPr>
            </a:pPr>
            <a:r>
              <a:t>Autonomous Sequential AI Agent Chain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>
                <a:solidFill>
                  <a:srgbClr val="F8FAFC"/>
                </a:solidFill>
              </a:rPr>
              <a:t>• Transforms raw 1-paragraph student ideas into structured engineering roadmaps in &lt;10 seconds.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>
                <a:solidFill>
                  <a:srgbClr val="F8FAFC"/>
                </a:solidFill>
              </a:rPr>
              <a:t>• Sequential Chain-of-Thought: Feasibility ➔ Scope ➔ Tech Stack ➔ Risk Matrix ➔ Tracking.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2103120"/>
          </a:xfrm>
          <a:prstGeom prst="roundRect">
            <a:avLst/>
          </a:prstGeom>
          <a:solidFill>
            <a:srgbClr val="182036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6B6D4"/>
                </a:solidFill>
                <a:latin typeface="Calibri"/>
              </a:defRPr>
            </a:pPr>
            <a:r>
              <a:t>Context-Aware AI Mentor &amp; Voice Chat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>
                <a:solidFill>
                  <a:srgbClr val="F8FAFC"/>
                </a:solidFill>
              </a:rPr>
              <a:t>• Interactive RAG chatbot with complete project state awareness (tech stack, scope, and tasks).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>
                <a:solidFill>
                  <a:srgbClr val="F8FAFC"/>
                </a:solidFill>
              </a:rPr>
              <a:t>• Hands-free voice query input powered by Web Speech API for seamless student interaction.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23360"/>
            <a:ext cx="5120640" cy="2103120"/>
          </a:xfrm>
          <a:prstGeom prst="roundRect">
            <a:avLst/>
          </a:prstGeom>
          <a:solidFill>
            <a:srgbClr val="182036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20624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0B981"/>
                </a:solidFill>
                <a:latin typeface="Calibri"/>
              </a:defRPr>
            </a:pPr>
            <a:r>
              <a:t>Dynamic Re-Planning &amp; Velocity Engine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>
                <a:solidFill>
                  <a:srgbClr val="F8FAFC"/>
                </a:solidFill>
              </a:rPr>
              <a:t>• Tracks task completions and computes real-time milestone velocity and project health score.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>
                <a:solidFill>
                  <a:srgbClr val="F8FAFC"/>
                </a:solidFill>
              </a:rPr>
              <a:t>• Autonomous Re-Planner dynamically shifts downstream deadlines when students face roadblocks.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023360"/>
            <a:ext cx="5120640" cy="2103120"/>
          </a:xfrm>
          <a:prstGeom prst="roundRect">
            <a:avLst/>
          </a:prstGeom>
          <a:solidFill>
            <a:srgbClr val="182036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20624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59E0B"/>
                </a:solidFill>
                <a:latin typeface="Calibri"/>
              </a:defRPr>
            </a:pPr>
            <a:r>
              <a:t>Faculty Cohort Governance Hub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>
                <a:solidFill>
                  <a:srgbClr val="F8FAFC"/>
                </a:solidFill>
              </a:rPr>
              <a:t>• Real-time cohort health analytics, at-risk student flags, and departmental broadcast alerts.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>
                <a:solidFill>
                  <a:srgbClr val="F8FAFC"/>
                </a:solidFill>
              </a:rPr>
              <a:t>• Official milestone review, timestamped sign-offs, and 1-click Academic Document drafting.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Calibri"/>
              </a:defRPr>
            </a:pPr>
            <a:r>
              <a:t>INFOSYS SPRINGBOARD 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Calibri"/>
              </a:defRPr>
            </a:pPr>
            <a:r>
              <a:t>System Architecture: Multi-Tier Cloud &amp; Agent Infrastructure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468880" cy="4389120"/>
          </a:xfrm>
          <a:prstGeom prst="roundRect">
            <a:avLst/>
          </a:prstGeom>
          <a:solidFill>
            <a:srgbClr val="182036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103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6B6D4"/>
                </a:solidFill>
                <a:latin typeface="Calibri"/>
              </a:defRPr>
            </a:pPr>
            <a:r>
              <a:t>Tier 1: Presentation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• Framework: </a:t>
            </a:r>
            <a:r>
              <a:rPr>
                <a:solidFill>
                  <a:srgbClr val="F8FAFC"/>
                </a:solidFill>
              </a:rPr>
              <a:t>React 19 + Vite SPA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• Design System: </a:t>
            </a:r>
            <a:r>
              <a:rPr>
                <a:solidFill>
                  <a:srgbClr val="F8FAFC"/>
                </a:solidFill>
              </a:rPr>
              <a:t>Custom OLED Dark Theme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• Components: </a:t>
            </a:r>
            <a:r>
              <a:rPr>
                <a:solidFill>
                  <a:srgbClr val="F8FAFC"/>
                </a:solidFill>
              </a:rPr>
              <a:t>Tailored Modals, Risk Heatmaps, Milestone Roadmaps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• Voice Engine: </a:t>
            </a:r>
            <a:r>
              <a:rPr>
                <a:solidFill>
                  <a:srgbClr val="F8FAFC"/>
                </a:solidFill>
              </a:rPr>
              <a:t>Web Speech API (`webkitSpeechRecognition`)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• Client Hosting: </a:t>
            </a:r>
            <a:r>
              <a:rPr>
                <a:solidFill>
                  <a:srgbClr val="F8FAFC"/>
                </a:solidFill>
              </a:rPr>
              <a:t>Vercel / Render Static Site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645920"/>
            <a:ext cx="2468880" cy="4389120"/>
          </a:xfrm>
          <a:prstGeom prst="roundRect">
            <a:avLst/>
          </a:prstGeom>
          <a:solidFill>
            <a:srgbClr val="182036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1828800"/>
            <a:ext cx="2103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6366F1"/>
                </a:solidFill>
                <a:latin typeface="Calibri"/>
              </a:defRPr>
            </a:pPr>
            <a:r>
              <a:t>Tier 2: API Gateway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• Engine: </a:t>
            </a:r>
            <a:r>
              <a:rPr>
                <a:solidFill>
                  <a:srgbClr val="F8FAFC"/>
                </a:solidFill>
              </a:rPr>
              <a:t>FastAPI (Python 3.11)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• Data Validation: </a:t>
            </a:r>
            <a:r>
              <a:rPr>
                <a:solidFill>
                  <a:srgbClr val="F8FAFC"/>
                </a:solidFill>
              </a:rPr>
              <a:t>Pydantic v2 strict schemas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• Security: </a:t>
            </a:r>
            <a:r>
              <a:rPr>
                <a:solidFill>
                  <a:srgbClr val="F8FAFC"/>
                </a:solidFill>
              </a:rPr>
              <a:t>JWT Tokens, Role-Based Access Control (RBAC)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• Async Processing: </a:t>
            </a:r>
            <a:r>
              <a:rPr>
                <a:solidFill>
                  <a:srgbClr val="F8FAFC"/>
                </a:solidFill>
              </a:rPr>
              <a:t>FastAPI BackgroundTasks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• Diagnostics: </a:t>
            </a:r>
            <a:r>
              <a:rPr>
                <a:solidFill>
                  <a:srgbClr val="F8FAFC"/>
                </a:solidFill>
              </a:rPr>
              <a:t>Startup DB Health &amp; Heartbeat Endpoints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2468880" cy="4389120"/>
          </a:xfrm>
          <a:prstGeom prst="roundRect">
            <a:avLst/>
          </a:prstGeom>
          <a:solidFill>
            <a:srgbClr val="182036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2103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0B981"/>
                </a:solidFill>
                <a:latin typeface="Calibri"/>
              </a:defRPr>
            </a:pPr>
            <a:r>
              <a:t>Tier 3: Multi-Agent Swarm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• Orchestration: </a:t>
            </a:r>
            <a:r>
              <a:rPr>
                <a:solidFill>
                  <a:srgbClr val="F8FAFC"/>
                </a:solidFill>
              </a:rPr>
              <a:t>CrewAI + LangChain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• Inference: </a:t>
            </a:r>
            <a:r>
              <a:rPr>
                <a:solidFill>
                  <a:srgbClr val="F8FAFC"/>
                </a:solidFill>
              </a:rPr>
              <a:t>Groq API (LLaMA-3.3-70B)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• Latency: </a:t>
            </a:r>
            <a:r>
              <a:rPr>
                <a:solidFill>
                  <a:srgbClr val="F8FAFC"/>
                </a:solidFill>
              </a:rPr>
              <a:t>Sub-second token throughput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• Chaining: </a:t>
            </a:r>
            <a:r>
              <a:rPr>
                <a:solidFill>
                  <a:srgbClr val="F8FAFC"/>
                </a:solidFill>
              </a:rPr>
              <a:t>Sequential state propagation across all agents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• Fault Tolerance: </a:t>
            </a:r>
            <a:r>
              <a:rPr>
                <a:solidFill>
                  <a:srgbClr val="F8FAFC"/>
                </a:solidFill>
              </a:rPr>
              <a:t>Heuristic fallbacks on quota exhaustion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645920"/>
            <a:ext cx="2468880" cy="4389120"/>
          </a:xfrm>
          <a:prstGeom prst="roundRect">
            <a:avLst/>
          </a:prstGeom>
          <a:solidFill>
            <a:srgbClr val="182036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0" y="1828800"/>
            <a:ext cx="2103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59E0B"/>
                </a:solidFill>
                <a:latin typeface="Calibri"/>
              </a:defRPr>
            </a:pPr>
            <a:r>
              <a:t>Tier 4: Persistence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• Database: </a:t>
            </a:r>
            <a:r>
              <a:rPr>
                <a:solidFill>
                  <a:srgbClr val="F8FAFC"/>
                </a:solidFill>
              </a:rPr>
              <a:t>MongoDB Atlas (Cloud Cluster)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• Normalization: </a:t>
            </a:r>
            <a:r>
              <a:rPr>
                <a:solidFill>
                  <a:srgbClr val="F8FAFC"/>
                </a:solidFill>
              </a:rPr>
              <a:t>Normalized schemas for projects, reports, milestones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• Dual Sync: </a:t>
            </a:r>
            <a:r>
              <a:rPr>
                <a:solidFill>
                  <a:srgbClr val="F8FAFC"/>
                </a:solidFill>
              </a:rPr>
              <a:t>Seamless fallback to local JSON persistence if offline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• Indexing: </a:t>
            </a:r>
            <a:r>
              <a:rPr>
                <a:solidFill>
                  <a:srgbClr val="F8FAFC"/>
                </a:solidFill>
              </a:rPr>
              <a:t>Optimized queries on student_id, faculty_id, project_id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Calibri"/>
              </a:defRPr>
            </a:pPr>
            <a:r>
              <a:t>INFOSYS SPRINGBOARD 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Calibri"/>
              </a:defRPr>
            </a:pPr>
            <a:r>
              <a:t>The Autonomous Multi-Agent Pipeline: Sequential Reasoning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4389120"/>
          </a:xfrm>
          <a:prstGeom prst="roundRect">
            <a:avLst/>
          </a:prstGeom>
          <a:solidFill>
            <a:srgbClr val="182036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332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6B6D4"/>
                </a:solidFill>
                <a:latin typeface="Calibri"/>
              </a:defRPr>
            </a:pPr>
            <a:r>
              <a:t>Autonomous Agent Chain-of-Thought Flow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• Input Trigger: </a:t>
            </a:r>
            <a:r>
              <a:rPr>
                <a:solidFill>
                  <a:srgbClr val="F8FAFC"/>
                </a:solidFill>
              </a:rPr>
              <a:t>Student submits project title, description, team size, duration, and self-assessed skill levels.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• Agent 1 (Feasibility Check): </a:t>
            </a:r>
            <a:r>
              <a:rPr>
                <a:solidFill>
                  <a:srgbClr val="F8FAFC"/>
                </a:solidFill>
              </a:rPr>
              <a:t>Analyzes technical viability, timeline feasibility, and skill match; outputs 0-100 score and bottlenecks.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• Agent 2 (Scope Governance): </a:t>
            </a:r>
            <a:r>
              <a:rPr>
                <a:solidFill>
                  <a:srgbClr val="F8FAFC"/>
                </a:solidFill>
              </a:rPr>
              <a:t>Ingests Feasibility output; formulates explicit In-Scope, Out-of-Scope boundaries to eliminate scope creep.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• Agent 3 (Tech Stack Recommender): </a:t>
            </a:r>
            <a:r>
              <a:rPr>
                <a:solidFill>
                  <a:srgbClr val="F8FAFC"/>
                </a:solidFill>
              </a:rPr>
              <a:t>Ingests Scope and Skills; recommends optimal frontend, backend, DB, and tools with trade-offs.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• Agent 4 (Risk Matrix Agent): </a:t>
            </a:r>
            <a:r>
              <a:rPr>
                <a:solidFill>
                  <a:srgbClr val="F8FAFC"/>
                </a:solidFill>
              </a:rPr>
              <a:t>Ingests Tech Stack and Scope; computes multi-vector risks across Technical, Deadline, and Operational vectors.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• Agent 5 (Milestone Tracking Agent): </a:t>
            </a:r>
            <a:r>
              <a:rPr>
                <a:solidFill>
                  <a:srgbClr val="F8FAFC"/>
                </a:solidFill>
              </a:rPr>
              <a:t>Synthesizes all reports into a 5-Phase structured execution roadmap with task-level acceptance criteria.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• Agent 6 (Dynamic Re-Planner): </a:t>
            </a:r>
            <a:r>
              <a:rPr>
                <a:solidFill>
                  <a:srgbClr val="F8FAFC"/>
                </a:solidFill>
              </a:rPr>
              <a:t>Monitors task completion velocity; dynamically recalculates schedules when milestones fall behind.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• Agent 7 (Academic Document Generator): </a:t>
            </a:r>
            <a:r>
              <a:rPr>
                <a:solidFill>
                  <a:srgbClr val="F8FAFC"/>
                </a:solidFill>
              </a:rPr>
              <a:t>Transforms verified project metadata into university-standard Project Synopsis and Methodology drafts.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• Agent 8 (Context-Aware AI Mentor): </a:t>
            </a:r>
            <a:r>
              <a:rPr>
                <a:solidFill>
                  <a:srgbClr val="F8FAFC"/>
                </a:solidFill>
              </a:rPr>
              <a:t>Answers ad-hoc technical queries with full context awareness of the student's project scope and stack.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Calibri"/>
              </a:defRPr>
            </a:pPr>
            <a:r>
              <a:t>INFOSYS SPRINGBOARD 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Calibri"/>
              </a:defRPr>
            </a:pPr>
            <a:r>
              <a:t>Deep Dive: Agent 1 (Feasibility) &amp; Agent 2 (Scope Definition)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82036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6366F1"/>
                </a:solidFill>
                <a:latin typeface="Calibri"/>
              </a:defRPr>
            </a:pPr>
            <a:r>
              <a:t>Agent 1: Feasibility Check Agent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• Role: </a:t>
            </a:r>
            <a:r>
              <a:rPr>
                <a:solidFill>
                  <a:srgbClr val="F8FAFC"/>
                </a:solidFill>
              </a:rPr>
              <a:t>Senior Academic Research &amp; Technical Reviewer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• Input: </a:t>
            </a:r>
            <a:r>
              <a:rPr>
                <a:solidFill>
                  <a:srgbClr val="F8FAFC"/>
                </a:solidFill>
              </a:rPr>
              <a:t>Project title, domain, team size, duration, self-rated student skills (1-5)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• Metrics Evaluated: </a:t>
            </a:r>
            <a:r>
              <a:rPr>
                <a:solidFill>
                  <a:srgbClr val="F8FAFC"/>
                </a:solidFill>
              </a:rPr>
              <a:t>Technical complexity, timeline viability, resource availability, skill readiness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• Outputs: </a:t>
            </a:r>
            <a:r>
              <a:rPr>
                <a:solidFill>
                  <a:srgbClr val="F8FAFC"/>
                </a:solidFill>
              </a:rPr>
              <a:t>Overall Score (0-100), Verdict (Highly Feasible / Feasible with Guidance / Needs Scope Reduction)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• Actionable Feedback: </a:t>
            </a:r>
            <a:r>
              <a:rPr>
                <a:solidFill>
                  <a:srgbClr val="F8FAFC"/>
                </a:solidFill>
              </a:rPr>
              <a:t>Explicit list of identified project strengths, critical bottlenecks, and skill gaps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• Resiliency: </a:t>
            </a:r>
            <a:r>
              <a:rPr>
                <a:solidFill>
                  <a:srgbClr val="F8FAFC"/>
                </a:solidFill>
              </a:rPr>
              <a:t>Calculates deterministic baseline heuristics if Groq API hits rate limits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82036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6B6D4"/>
                </a:solidFill>
                <a:latin typeface="Calibri"/>
              </a:defRPr>
            </a:pPr>
            <a:r>
              <a:t>Agent 2: Scope Definition Agent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• Role: </a:t>
            </a:r>
            <a:r>
              <a:rPr>
                <a:solidFill>
                  <a:srgbClr val="F8FAFC"/>
                </a:solidFill>
              </a:rPr>
              <a:t>Software Architect &amp; Agile Product Manager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• Input: </a:t>
            </a:r>
            <a:r>
              <a:rPr>
                <a:solidFill>
                  <a:srgbClr val="F8FAFC"/>
                </a:solidFill>
              </a:rPr>
              <a:t>Project metadata + Upstream Agent 1 Feasibility Report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• Anti-Creep Boundaries: </a:t>
            </a:r>
            <a:r>
              <a:rPr>
                <a:solidFill>
                  <a:srgbClr val="F8FAFC"/>
                </a:solidFill>
              </a:rPr>
              <a:t>Explicitly delineates In-Scope requirements vs Out-of-Scope non-goals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• Core Deliverables: </a:t>
            </a:r>
            <a:r>
              <a:rPr>
                <a:solidFill>
                  <a:srgbClr val="F8FAFC"/>
                </a:solidFill>
              </a:rPr>
              <a:t>Problem statement, primary objectives, target user personas, key deliverables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• Assumptions &amp; Constraints: </a:t>
            </a:r>
            <a:r>
              <a:rPr>
                <a:solidFill>
                  <a:srgbClr val="F8FAFC"/>
                </a:solidFill>
              </a:rPr>
              <a:t>Documented technical prerequisites, runtime limits, and team availability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• Agent Chaining: </a:t>
            </a:r>
            <a:r>
              <a:rPr>
                <a:solidFill>
                  <a:srgbClr val="F8FAFC"/>
                </a:solidFill>
              </a:rPr>
              <a:t>References Agent 1 bottlenecks to ensure risky features are flagged Out-of-Scope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Calibri"/>
              </a:defRPr>
            </a:pPr>
            <a:r>
              <a:t>INFOSYS SPRINGBOARD 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Calibri"/>
              </a:defRPr>
            </a:pPr>
            <a:r>
              <a:t>Deep Dive: Agent 3 (Tech Stack) &amp; Agent 4 (Risk Assessment)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82036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0B981"/>
                </a:solidFill>
                <a:latin typeface="Calibri"/>
              </a:defRPr>
            </a:pPr>
            <a:r>
              <a:t>Agent 3: Tech Stack Recommender Agent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• Role: </a:t>
            </a:r>
            <a:r>
              <a:rPr>
                <a:solidFill>
                  <a:srgbClr val="F8FAFC"/>
                </a:solidFill>
              </a:rPr>
              <a:t>Full-Stack Technology Strategist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• Input: </a:t>
            </a:r>
            <a:r>
              <a:rPr>
                <a:solidFill>
                  <a:srgbClr val="F8FAFC"/>
                </a:solidFill>
              </a:rPr>
              <a:t>Scope boundaries + student team skill proficiencies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• Recommendations: </a:t>
            </a:r>
            <a:r>
              <a:rPr>
                <a:solidFill>
                  <a:srgbClr val="F8FAFC"/>
                </a:solidFill>
              </a:rPr>
              <a:t>Frontend, Backend, Database, Hosting, and DevOps tooling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• Skill Match Analysis: </a:t>
            </a:r>
            <a:r>
              <a:rPr>
                <a:solidFill>
                  <a:srgbClr val="F8FAFC"/>
                </a:solidFill>
              </a:rPr>
              <a:t>Evaluates team ramp-up time and provides learning curves per technology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• Trade-Off Analysis: </a:t>
            </a:r>
            <a:r>
              <a:rPr>
                <a:solidFill>
                  <a:srgbClr val="F8FAFC"/>
                </a:solidFill>
              </a:rPr>
              <a:t>Compares primary choices with alternatives (e.g. MongoDB vs PostgreSQL)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• Learning Resources: </a:t>
            </a:r>
            <a:r>
              <a:rPr>
                <a:solidFill>
                  <a:srgbClr val="F8FAFC"/>
                </a:solidFill>
              </a:rPr>
              <a:t>Curates targeted documentation and tutorials for student skill gaps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82036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59E0B"/>
                </a:solidFill>
                <a:latin typeface="Calibri"/>
              </a:defRPr>
            </a:pPr>
            <a:r>
              <a:t>Agent 4: Multi-Vector Risk Assessment Agent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• Role: </a:t>
            </a:r>
            <a:r>
              <a:rPr>
                <a:solidFill>
                  <a:srgbClr val="F8FAFC"/>
                </a:solidFill>
              </a:rPr>
              <a:t>Cybersecurity, Infrastructure &amp; Project Risk Analyst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• Input: </a:t>
            </a:r>
            <a:r>
              <a:rPr>
                <a:solidFill>
                  <a:srgbClr val="F8FAFC"/>
                </a:solidFill>
              </a:rPr>
              <a:t>Scope + Tech Stack + Team Profile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• Risk Vectors: </a:t>
            </a:r>
            <a:r>
              <a:rPr>
                <a:solidFill>
                  <a:srgbClr val="F8FAFC"/>
                </a:solidFill>
              </a:rPr>
              <a:t>Technical, Deadline/Timeline, Operational, Resource Dependencies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• Scoring Matrix: </a:t>
            </a:r>
            <a:r>
              <a:rPr>
                <a:solidFill>
                  <a:srgbClr val="F8FAFC"/>
                </a:solidFill>
              </a:rPr>
              <a:t>Probability (1-5) × Impact (1-5) ➔ Overall Risk Level (Low / Medium / High)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• Mitigation Strategies: </a:t>
            </a:r>
            <a:r>
              <a:rPr>
                <a:solidFill>
                  <a:srgbClr val="F8FAFC"/>
                </a:solidFill>
              </a:rPr>
              <a:t>Step-by-step preventative actions and early warning indicators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• Contingency Plans: </a:t>
            </a:r>
            <a:r>
              <a:rPr>
                <a:solidFill>
                  <a:srgbClr val="F8FAFC"/>
                </a:solidFill>
              </a:rPr>
              <a:t>Emergency fallback architectures if primary implementation hits a dead end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Calibri"/>
              </a:defRPr>
            </a:pPr>
            <a:r>
              <a:t>INFOSYS SPRINGBOARD 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Calibri"/>
              </a:defRPr>
            </a:pPr>
            <a:r>
              <a:t>Deep Dive: Agent 5 (Milestones) &amp; Agent 6 (Dynamic Re-Planner)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82036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6366F1"/>
                </a:solidFill>
                <a:latin typeface="Calibri"/>
              </a:defRPr>
            </a:pPr>
            <a:r>
              <a:t>Agent 5: Milestone &amp; Sprint Planner Agent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• Role: </a:t>
            </a:r>
            <a:r>
              <a:rPr>
                <a:solidFill>
                  <a:srgbClr val="F8FAFC"/>
                </a:solidFill>
              </a:rPr>
              <a:t>Certified Scrum Master &amp; Engineering Lead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• Output: </a:t>
            </a:r>
            <a:r>
              <a:rPr>
                <a:solidFill>
                  <a:srgbClr val="F8FAFC"/>
                </a:solidFill>
              </a:rPr>
              <a:t>Structured 5-Phase Milestone Roadmap spanning 60-day project lifecycle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• Phase Structure: </a:t>
            </a:r>
            <a:r>
              <a:rPr>
                <a:solidFill>
                  <a:srgbClr val="F8FAFC"/>
                </a:solidFill>
              </a:rPr>
              <a:t>Phase 1: Inception ➔ Phase 2: Architecture ➔ Phase 3: Core Dev ➔ Phase 4: Integration ➔ Phase 5: Defense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• Granular Tasks: </a:t>
            </a:r>
            <a:r>
              <a:rPr>
                <a:solidFill>
                  <a:srgbClr val="F8FAFC"/>
                </a:solidFill>
              </a:rPr>
              <a:t>Detailed checklist items with acceptance criteria per sprint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• Progress Computation: </a:t>
            </a:r>
            <a:r>
              <a:rPr>
                <a:solidFill>
                  <a:srgbClr val="F8FAFC"/>
                </a:solidFill>
              </a:rPr>
              <a:t>Automated percentage completion driven by student task check-offs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• Verification: </a:t>
            </a:r>
            <a:r>
              <a:rPr>
                <a:solidFill>
                  <a:srgbClr val="F8FAFC"/>
                </a:solidFill>
              </a:rPr>
              <a:t>Ready for faculty mentor inspection and official sign-off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82036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6B6D4"/>
                </a:solidFill>
                <a:latin typeface="Calibri"/>
              </a:defRPr>
            </a:pPr>
            <a:r>
              <a:t>Agent 6: Dynamic Plan Re-Planner Agent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• Role: </a:t>
            </a:r>
            <a:r>
              <a:rPr>
                <a:solidFill>
                  <a:srgbClr val="F8FAFC"/>
                </a:solidFill>
              </a:rPr>
              <a:t>Adaptive Agile Delivery Coordinator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• Trigger: </a:t>
            </a:r>
            <a:r>
              <a:rPr>
                <a:solidFill>
                  <a:srgbClr val="F8FAFC"/>
                </a:solidFill>
              </a:rPr>
              <a:t>Student logs delay or task deadline exceeds estimated timeline window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• Impact Analysis: </a:t>
            </a:r>
            <a:r>
              <a:rPr>
                <a:solidFill>
                  <a:srgbClr val="F8FAFC"/>
                </a:solidFill>
              </a:rPr>
              <a:t>Identifies downstream dependency bottlenecks across subsequent phases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• Schedule Adjustment: </a:t>
            </a:r>
            <a:r>
              <a:rPr>
                <a:solidFill>
                  <a:srgbClr val="F8FAFC"/>
                </a:solidFill>
              </a:rPr>
              <a:t>Dynamically adjusts task dates and suggests scope de-scoping if necessary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• Guidance: </a:t>
            </a:r>
            <a:r>
              <a:rPr>
                <a:solidFill>
                  <a:srgbClr val="F8FAFC"/>
                </a:solidFill>
              </a:rPr>
              <a:t>Generates motivational tips and fast-track action items to regain lost velocity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• Faculty Notification: </a:t>
            </a:r>
            <a:r>
              <a:rPr>
                <a:solidFill>
                  <a:srgbClr val="F8FAFC"/>
                </a:solidFill>
              </a:rPr>
              <a:t>Updates team health score and alerts faculty guide to provide intervention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Calibri"/>
              </a:defRPr>
            </a:pPr>
            <a:r>
              <a:t>INFOSYS SPRINGBOARD 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Calibri"/>
              </a:defRPr>
            </a:pPr>
            <a:r>
              <a:t>Deep Dive: Agent 7 (Doc Generator) &amp; Agent 8 (AI Mentor Chat)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82036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0B981"/>
                </a:solidFill>
                <a:latin typeface="Calibri"/>
              </a:defRPr>
            </a:pPr>
            <a:r>
              <a:t>Agent 7: Academic Document Generator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• Role: </a:t>
            </a:r>
            <a:r>
              <a:rPr>
                <a:solidFill>
                  <a:srgbClr val="F8FAFC"/>
                </a:solidFill>
              </a:rPr>
              <a:t>University Academic Coordinator &amp; Technical Writer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• Document Types: </a:t>
            </a:r>
            <a:r>
              <a:rPr>
                <a:solidFill>
                  <a:srgbClr val="F8FAFC"/>
                </a:solidFill>
              </a:rPr>
              <a:t>Formal Project Synopsis, System Architecture, and Methodology Chapters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• Compliance: </a:t>
            </a:r>
            <a:r>
              <a:rPr>
                <a:solidFill>
                  <a:srgbClr val="F8FAFC"/>
                </a:solidFill>
              </a:rPr>
              <a:t>Follows standard university and UGC capstone submission formats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• Content Synthesis: </a:t>
            </a:r>
            <a:r>
              <a:rPr>
                <a:solidFill>
                  <a:srgbClr val="F8FAFC"/>
                </a:solidFill>
              </a:rPr>
              <a:t>Draws directly from approved Scope, Tech Stack, and Risk reports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• 1-Click Export: </a:t>
            </a:r>
            <a:r>
              <a:rPr>
                <a:solidFill>
                  <a:srgbClr val="F8FAFC"/>
                </a:solidFill>
              </a:rPr>
              <a:t>Generates cleanly formatted Markdown and downloadable document drafts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• Time Saved: </a:t>
            </a:r>
            <a:r>
              <a:rPr>
                <a:solidFill>
                  <a:srgbClr val="F8FAFC"/>
                </a:solidFill>
              </a:rPr>
              <a:t>Eliminates 15+ hours of manual report compilation for student teams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82036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6366F1"/>
                </a:solidFill>
                <a:latin typeface="Calibri"/>
              </a:defRPr>
            </a:pPr>
            <a:r>
              <a:t>Agent 8: Project-Aware AI Mentor &amp; Voice Chat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• Role: </a:t>
            </a:r>
            <a:r>
              <a:rPr>
                <a:solidFill>
                  <a:srgbClr val="F8FAFC"/>
                </a:solidFill>
              </a:rPr>
              <a:t>Personal 24/7 AI Capstone Advisor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• Context Memory: </a:t>
            </a:r>
            <a:r>
              <a:rPr>
                <a:solidFill>
                  <a:srgbClr val="F8FAFC"/>
                </a:solidFill>
              </a:rPr>
              <a:t>Maintains full awareness of active project title, stack, scope, and progress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• Hands-Free Voice: </a:t>
            </a:r>
            <a:r>
              <a:rPr>
                <a:solidFill>
                  <a:srgbClr val="F8FAFC"/>
                </a:solidFill>
              </a:rPr>
              <a:t>Web Speech API microphone integration for natural spoken queries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• Technical Guidance: </a:t>
            </a:r>
            <a:r>
              <a:rPr>
                <a:solidFill>
                  <a:srgbClr val="F8FAFC"/>
                </a:solidFill>
              </a:rPr>
              <a:t>Assists with code architecture, debugging, database queries, and viva prep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• Socratic Method: </a:t>
            </a:r>
            <a:r>
              <a:rPr>
                <a:solidFill>
                  <a:srgbClr val="F8FAFC"/>
                </a:solidFill>
              </a:rPr>
              <a:t>Guides students to solve problems rather than writing entire solutions for them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• History Persistence: </a:t>
            </a:r>
            <a:r>
              <a:rPr>
                <a:solidFill>
                  <a:srgbClr val="F8FAFC"/>
                </a:solidFill>
              </a:rPr>
              <a:t>Preserves conversation threads across student login sessions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Calibri"/>
              </a:defRPr>
            </a:pPr>
            <a:r>
              <a:t>INFOSYS SPRINGBOARD 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Calibri"/>
              </a:defRPr>
            </a:pPr>
            <a:r>
              <a:t>Faculty Governance Hub: Cohort Analytics &amp; Milestone Sign-Offs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82036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6B6D4"/>
                </a:solidFill>
                <a:latin typeface="Calibri"/>
              </a:defRPr>
            </a:pPr>
            <a:r>
              <a:t>1. Cohort Health Analytics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• Real-Time Dashboard: </a:t>
            </a:r>
            <a:r>
              <a:rPr>
                <a:solidFill>
                  <a:srgbClr val="F8FAFC"/>
                </a:solidFill>
              </a:rPr>
              <a:t>Unified overview of all student capstone teams in a single screen.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• Health Metric: </a:t>
            </a:r>
            <a:r>
              <a:rPr>
                <a:solidFill>
                  <a:srgbClr val="F8FAFC"/>
                </a:solidFill>
              </a:rPr>
              <a:t>Calculates composite score based on feasibility, velocity, and risks.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• At-Risk Indicators: </a:t>
            </a:r>
            <a:r>
              <a:rPr>
                <a:solidFill>
                  <a:srgbClr val="F8FAFC"/>
                </a:solidFill>
              </a:rPr>
              <a:t>Automated flags identify stalled teams falling behind schedule.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• Department Reports: </a:t>
            </a:r>
            <a:r>
              <a:rPr>
                <a:solidFill>
                  <a:srgbClr val="F8FAFC"/>
                </a:solidFill>
              </a:rPr>
              <a:t>Exportable summary statistics for HOD and accreditation reviews.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182036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6366F1"/>
                </a:solidFill>
                <a:latin typeface="Calibri"/>
              </a:defRPr>
            </a:pPr>
            <a:r>
              <a:t>2. Milestone Sign-Offs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• Formal Review: </a:t>
            </a:r>
            <a:r>
              <a:rPr>
                <a:solidFill>
                  <a:srgbClr val="F8FAFC"/>
                </a:solidFill>
              </a:rPr>
              <a:t>Faculty inspect student task submissions with proof of deliverables.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• Official Verification: </a:t>
            </a:r>
            <a:r>
              <a:rPr>
                <a:solidFill>
                  <a:srgbClr val="F8FAFC"/>
                </a:solidFill>
              </a:rPr>
              <a:t>1-click digital sign-off with audit trail and timestamp.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• Feedback Loop: </a:t>
            </a:r>
            <a:r>
              <a:rPr>
                <a:solidFill>
                  <a:srgbClr val="F8FAFC"/>
                </a:solidFill>
              </a:rPr>
              <a:t>Leave targeted revision comments for incomplete milestone phases.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• Evaluation Defense: </a:t>
            </a:r>
            <a:r>
              <a:rPr>
                <a:solidFill>
                  <a:srgbClr val="F8FAFC"/>
                </a:solidFill>
              </a:rPr>
              <a:t>Generates verified progress logs for internal/external viva examiners.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182036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59E0B"/>
                </a:solidFill>
                <a:latin typeface="Calibri"/>
              </a:defRPr>
            </a:pPr>
            <a:r>
              <a:t>3. Broadcast Communications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• Cohort Alerts: </a:t>
            </a:r>
            <a:r>
              <a:rPr>
                <a:solidFill>
                  <a:srgbClr val="F8FAFC"/>
                </a:solidFill>
              </a:rPr>
              <a:t>Post department-wide announcements, viva dates, and submission deadlines.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• Immediate Visibility: </a:t>
            </a:r>
            <a:r>
              <a:rPr>
                <a:solidFill>
                  <a:srgbClr val="F8FAFC"/>
                </a:solidFill>
              </a:rPr>
              <a:t>Displays high-visibility alert banner on all student dashboards.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• Eliminates Fragmentation: </a:t>
            </a:r>
            <a:r>
              <a:rPr>
                <a:solidFill>
                  <a:srgbClr val="F8FAFC"/>
                </a:solidFill>
              </a:rPr>
              <a:t>Replaces messy WhatsApp groups with institutional auditability.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• Accountability: </a:t>
            </a:r>
            <a:r>
              <a:rPr>
                <a:solidFill>
                  <a:srgbClr val="F8FAFC"/>
                </a:solidFill>
              </a:rPr>
              <a:t>Ensures all students receive official guidelines synchronously.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Calibri"/>
              </a:defRPr>
            </a:pPr>
            <a:r>
              <a:t>INFOSYS SPRINGBOARD 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Calibri"/>
              </a:defRPr>
            </a:pPr>
            <a:r>
              <a:t>Agile Delivery Methodology: Sprints, Velocity &amp; Burndown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82036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0B981"/>
                </a:solidFill>
                <a:latin typeface="Calibri"/>
              </a:defRPr>
            </a:pPr>
            <a:r>
              <a:t>8-Week Hybrid Scrumban Execution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• Sprint 1 (Weeks 1-2): </a:t>
            </a:r>
            <a:r>
              <a:rPr>
                <a:solidFill>
                  <a:srgbClr val="F8FAFC"/>
                </a:solidFill>
              </a:rPr>
              <a:t>Foundation, Auth, MongoDB Atlas, Agent 1 Feasibility ➔ 34 SP (100%)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• Sprint 2 (Weeks 3-4): </a:t>
            </a:r>
            <a:r>
              <a:rPr>
                <a:solidFill>
                  <a:srgbClr val="F8FAFC"/>
                </a:solidFill>
              </a:rPr>
              <a:t>Agent 2 Scope, Agent 3 Stack, Agent 4 Risk Matrix ➔ 36 SP (95%)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• Sprint 3 (Weeks 5-6): </a:t>
            </a:r>
            <a:r>
              <a:rPr>
                <a:solidFill>
                  <a:srgbClr val="F8FAFC"/>
                </a:solidFill>
              </a:rPr>
              <a:t>Agent 5 Milestones, Re-Planner, AI Mentor Voice Chat ➔ 40 SP (100%)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• Sprint 4 (Weeks 7-8): </a:t>
            </a:r>
            <a:r>
              <a:rPr>
                <a:solidFill>
                  <a:srgbClr val="F8FAFC"/>
                </a:solidFill>
              </a:rPr>
              <a:t>Faculty Hub, Sign-offs, Doc Gen, E2E Testing &amp; Deploy ➔ 36 SP (100%)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• Total Delivered: </a:t>
            </a:r>
            <a:r>
              <a:rPr>
                <a:solidFill>
                  <a:srgbClr val="F8FAFC"/>
                </a:solidFill>
              </a:rPr>
              <a:t>146 Story Points across 4 Sprints (98.6% Velocity Completion Rate)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• Ceremonies: </a:t>
            </a:r>
            <a:r>
              <a:rPr>
                <a:solidFill>
                  <a:srgbClr val="F8FAFC"/>
                </a:solidFill>
              </a:rPr>
              <a:t>Daily Standups, Sprint Planning, Backlog Refinement, and Retrospectives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82036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6366F1"/>
                </a:solidFill>
                <a:latin typeface="Calibri"/>
              </a:defRPr>
            </a:pPr>
            <a:r>
              <a:t>Quality Engineering &amp; Agile Governance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• Definition of Ready: </a:t>
            </a:r>
            <a:r>
              <a:rPr>
                <a:solidFill>
                  <a:srgbClr val="F8FAFC"/>
                </a:solidFill>
              </a:rPr>
              <a:t>Detailed user stories with Gherkin acceptance criteria (Given-When-Then)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• Definition of Done: </a:t>
            </a:r>
            <a:r>
              <a:rPr>
                <a:solidFill>
                  <a:srgbClr val="F8FAFC"/>
                </a:solidFill>
              </a:rPr>
              <a:t>Strict criteria: PEP8/ESLint, automated tests passing, OLED UI verified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• Burndown Tracking: </a:t>
            </a:r>
            <a:r>
              <a:rPr>
                <a:solidFill>
                  <a:srgbClr val="F8FAFC"/>
                </a:solidFill>
              </a:rPr>
              <a:t>Linear burndown across all 4 sprints with zero unresolved defects at release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• Continuous Improvement: </a:t>
            </a:r>
            <a:r>
              <a:rPr>
                <a:solidFill>
                  <a:srgbClr val="F8FAFC"/>
                </a:solidFill>
              </a:rPr>
              <a:t>Sprint retrospectives drove adoption of Groq API &amp; optimistic UI updates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• Risk Management: </a:t>
            </a:r>
            <a:r>
              <a:rPr>
                <a:solidFill>
                  <a:srgbClr val="F8FAFC"/>
                </a:solidFill>
              </a:rPr>
              <a:t>Active Risk Register tracked and mitigated LLM rate limits &amp; offline contingencies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• Traceability: </a:t>
            </a:r>
            <a:r>
              <a:rPr>
                <a:solidFill>
                  <a:srgbClr val="F8FAFC"/>
                </a:solidFill>
              </a:rPr>
              <a:t>100% Requirements Traceability Matrix linking User Stories to Test Cases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Calibri"/>
              </a:defRPr>
            </a:pPr>
            <a:r>
              <a:t>INFOSYS SPRINGBOARD 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Calibri"/>
              </a:defRPr>
            </a:pPr>
            <a:r>
              <a:t>Technology Stack &amp; Technical Innovations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468880" cy="4389120"/>
          </a:xfrm>
          <a:prstGeom prst="roundRect">
            <a:avLst/>
          </a:prstGeom>
          <a:solidFill>
            <a:srgbClr val="182036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103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6B6D4"/>
                </a:solidFill>
                <a:latin typeface="Calibri"/>
              </a:defRPr>
            </a:pPr>
            <a:r>
              <a:t>Frontend Tech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• React 19: </a:t>
            </a:r>
            <a:r>
              <a:rPr>
                <a:solidFill>
                  <a:srgbClr val="F8FAFC"/>
                </a:solidFill>
              </a:rPr>
              <a:t>Latest React features &amp; hooks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• Vite Bundler: </a:t>
            </a:r>
            <a:r>
              <a:rPr>
                <a:solidFill>
                  <a:srgbClr val="F8FAFC"/>
                </a:solidFill>
              </a:rPr>
              <a:t>Sub-second HMR builds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• Lucide Icons: </a:t>
            </a:r>
            <a:r>
              <a:rPr>
                <a:solidFill>
                  <a:srgbClr val="F8FAFC"/>
                </a:solidFill>
              </a:rPr>
              <a:t>Crisp SVG vector icons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• OLED Dark Theme: </a:t>
            </a:r>
            <a:r>
              <a:rPr>
                <a:solidFill>
                  <a:srgbClr val="F8FAFC"/>
                </a:solidFill>
              </a:rPr>
              <a:t>Unified HSL design system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• Web Speech API: </a:t>
            </a:r>
            <a:r>
              <a:rPr>
                <a:solidFill>
                  <a:srgbClr val="F8FAFC"/>
                </a:solidFill>
              </a:rPr>
              <a:t>Browser-native voice engine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645920"/>
            <a:ext cx="2468880" cy="4389120"/>
          </a:xfrm>
          <a:prstGeom prst="roundRect">
            <a:avLst/>
          </a:prstGeom>
          <a:solidFill>
            <a:srgbClr val="182036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1828800"/>
            <a:ext cx="2103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6366F1"/>
                </a:solidFill>
                <a:latin typeface="Calibri"/>
              </a:defRPr>
            </a:pPr>
            <a:r>
              <a:t>Backend Tech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• FastAPI: </a:t>
            </a:r>
            <a:r>
              <a:rPr>
                <a:solidFill>
                  <a:srgbClr val="F8FAFC"/>
                </a:solidFill>
              </a:rPr>
              <a:t>High-throughput async API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• Python 3.11: </a:t>
            </a:r>
            <a:r>
              <a:rPr>
                <a:solidFill>
                  <a:srgbClr val="F8FAFC"/>
                </a:solidFill>
              </a:rPr>
              <a:t>Modern typing &amp; performance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• Pydantic v2: </a:t>
            </a:r>
            <a:r>
              <a:rPr>
                <a:solidFill>
                  <a:srgbClr val="F8FAFC"/>
                </a:solidFill>
              </a:rPr>
              <a:t>Strict schema validation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• Uvicorn: </a:t>
            </a:r>
            <a:r>
              <a:rPr>
                <a:solidFill>
                  <a:srgbClr val="F8FAFC"/>
                </a:solidFill>
              </a:rPr>
              <a:t>ASGI web server implementation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• CORS Middleware: </a:t>
            </a:r>
            <a:r>
              <a:rPr>
                <a:solidFill>
                  <a:srgbClr val="F8FAFC"/>
                </a:solidFill>
              </a:rPr>
              <a:t>Production-grade cross-origin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2468880" cy="4389120"/>
          </a:xfrm>
          <a:prstGeom prst="roundRect">
            <a:avLst/>
          </a:prstGeom>
          <a:solidFill>
            <a:srgbClr val="182036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2103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0B981"/>
                </a:solidFill>
                <a:latin typeface="Calibri"/>
              </a:defRPr>
            </a:pPr>
            <a:r>
              <a:t>AI &amp; Agents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• Groq API: </a:t>
            </a:r>
            <a:r>
              <a:rPr>
                <a:solidFill>
                  <a:srgbClr val="F8FAFC"/>
                </a:solidFill>
              </a:rPr>
              <a:t>High-speed inference hardware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• LLaMA-3.3-70B: </a:t>
            </a:r>
            <a:r>
              <a:rPr>
                <a:solidFill>
                  <a:srgbClr val="F8FAFC"/>
                </a:solidFill>
              </a:rPr>
              <a:t>Flagship reasoning LLM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• CrewAI: </a:t>
            </a:r>
            <a:r>
              <a:rPr>
                <a:solidFill>
                  <a:srgbClr val="F8FAFC"/>
                </a:solidFill>
              </a:rPr>
              <a:t>Agent roles &amp; sequential flows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• LangChain: </a:t>
            </a:r>
            <a:r>
              <a:rPr>
                <a:solidFill>
                  <a:srgbClr val="F8FAFC"/>
                </a:solidFill>
              </a:rPr>
              <a:t>Prompt templates &amp; chains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• Fallback Engine: </a:t>
            </a:r>
            <a:r>
              <a:rPr>
                <a:solidFill>
                  <a:srgbClr val="F8FAFC"/>
                </a:solidFill>
              </a:rPr>
              <a:t>Deterministic rule heuristics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645920"/>
            <a:ext cx="2468880" cy="4389120"/>
          </a:xfrm>
          <a:prstGeom prst="roundRect">
            <a:avLst/>
          </a:prstGeom>
          <a:solidFill>
            <a:srgbClr val="182036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0" y="1828800"/>
            <a:ext cx="2103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59E0B"/>
                </a:solidFill>
                <a:latin typeface="Calibri"/>
              </a:defRPr>
            </a:pPr>
            <a:r>
              <a:t>Cloud &amp; DevOps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• MongoDB Atlas: </a:t>
            </a:r>
            <a:r>
              <a:rPr>
                <a:solidFill>
                  <a:srgbClr val="F8FAFC"/>
                </a:solidFill>
              </a:rPr>
              <a:t>Cloud database cluster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• Docker: </a:t>
            </a:r>
            <a:r>
              <a:rPr>
                <a:solidFill>
                  <a:srgbClr val="F8FAFC"/>
                </a:solidFill>
              </a:rPr>
              <a:t>Multi-stage fullstack image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• Vercel: </a:t>
            </a:r>
            <a:r>
              <a:rPr>
                <a:solidFill>
                  <a:srgbClr val="F8FAFC"/>
                </a:solidFill>
              </a:rPr>
              <a:t>SPA client deployment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• Render / Railway: </a:t>
            </a:r>
            <a:r>
              <a:rPr>
                <a:solidFill>
                  <a:srgbClr val="F8FAFC"/>
                </a:solidFill>
              </a:rPr>
              <a:t>Containerized cloud host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• Git / GitHub: </a:t>
            </a:r>
            <a:r>
              <a:rPr>
                <a:solidFill>
                  <a:srgbClr val="F8FAFC"/>
                </a:solidFill>
              </a:rPr>
              <a:t>Version control &amp; CI readiness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Calibri"/>
              </a:defRPr>
            </a:pPr>
            <a:r>
              <a:t>INFOSYS SPRINGBOARD 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Calibri"/>
              </a:defRPr>
            </a:pPr>
            <a:r>
              <a:t>Testing, Verification &amp; Quality Assurance: 118 Tests Green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82036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0B981"/>
                </a:solidFill>
                <a:latin typeface="Calibri"/>
              </a:defRPr>
            </a:pPr>
            <a:r>
              <a:t>1. Unit &amp; Schema Tests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• Pydantic Validation: </a:t>
            </a:r>
            <a:r>
              <a:rPr>
                <a:solidFill>
                  <a:srgbClr val="F8FAFC"/>
                </a:solidFill>
              </a:rPr>
              <a:t>Every agent response validated against rigid Pydantic models.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• Boundary Tests: </a:t>
            </a:r>
            <a:r>
              <a:rPr>
                <a:solidFill>
                  <a:srgbClr val="F8FAFC"/>
                </a:solidFill>
              </a:rPr>
              <a:t>Scores verified in 0-100 range; non-empty strings and required lists.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• Enum Enforcements: </a:t>
            </a:r>
            <a:r>
              <a:rPr>
                <a:solidFill>
                  <a:srgbClr val="F8FAFC"/>
                </a:solidFill>
              </a:rPr>
              <a:t>Strict verdicts ('Highly Feasible', 'Feasible with Guidance').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• Heuristic Coverage: </a:t>
            </a:r>
            <a:r>
              <a:rPr>
                <a:solidFill>
                  <a:srgbClr val="F8FAFC"/>
                </a:solidFill>
              </a:rPr>
              <a:t>Fallback response generators tested under network disconnection.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182036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6B6D4"/>
                </a:solidFill>
                <a:latin typeface="Calibri"/>
              </a:defRPr>
            </a:pPr>
            <a:r>
              <a:t>2. Agent Chaining Tests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• Sequential Integrity: </a:t>
            </a:r>
            <a:r>
              <a:rPr>
                <a:solidFill>
                  <a:srgbClr val="F8FAFC"/>
                </a:solidFill>
              </a:rPr>
              <a:t>Agent 2 verifies receipt of Agent 1 Feasibility report.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• Stack Alignment: </a:t>
            </a:r>
            <a:r>
              <a:rPr>
                <a:solidFill>
                  <a:srgbClr val="F8FAFC"/>
                </a:solidFill>
              </a:rPr>
              <a:t>Agent 3 verifies grounding in Agent 2 Scope and student skills.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• Risk Correlation: </a:t>
            </a:r>
            <a:r>
              <a:rPr>
                <a:solidFill>
                  <a:srgbClr val="F8FAFC"/>
                </a:solidFill>
              </a:rPr>
              <a:t>Agent 4 verifies risk vectors match chosen tech stack components.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• State Isolation: </a:t>
            </a:r>
            <a:r>
              <a:rPr>
                <a:solidFill>
                  <a:srgbClr val="F8FAFC"/>
                </a:solidFill>
              </a:rPr>
              <a:t>Ensures parallel student requests do not bleed idea states.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182036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6366F1"/>
                </a:solidFill>
                <a:latin typeface="Calibri"/>
              </a:defRPr>
            </a:pPr>
            <a:r>
              <a:t>3. E2E &amp; Production Build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• Pytest Suite: </a:t>
            </a:r>
            <a:r>
              <a:rPr>
                <a:solidFill>
                  <a:srgbClr val="F8FAFC"/>
                </a:solidFill>
              </a:rPr>
              <a:t>118 unit and integration tests passing with 0 failures.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• FastAPI TestClient: </a:t>
            </a:r>
            <a:r>
              <a:rPr>
                <a:solidFill>
                  <a:srgbClr val="F8FAFC"/>
                </a:solidFill>
              </a:rPr>
              <a:t>Simulates end-to-end HTTP request/response lifecycles.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• Vite Production Build: </a:t>
            </a:r>
            <a:r>
              <a:rPr>
                <a:solidFill>
                  <a:srgbClr val="F8FAFC"/>
                </a:solidFill>
              </a:rPr>
              <a:t>Builds cleanly into minified, gzip-compressed bundle in &lt;1s.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• Zero Regressions: </a:t>
            </a:r>
            <a:r>
              <a:rPr>
                <a:solidFill>
                  <a:srgbClr val="F8FAFC"/>
                </a:solidFill>
              </a:rPr>
              <a:t>Automated regression testing verified on every git commit.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Calibri"/>
              </a:defRPr>
            </a:pPr>
            <a:r>
              <a:t>INFOSYS SPRINGBOARD 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Calibri"/>
              </a:defRPr>
            </a:pPr>
            <a:r>
              <a:t>Security, Resiliency &amp; Offline Fallback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82036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59E0B"/>
                </a:solidFill>
                <a:latin typeface="Calibri"/>
              </a:defRPr>
            </a:pPr>
            <a:r>
              <a:t>Security &amp; Access Governance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• Role-Based Access Control: </a:t>
            </a:r>
            <a:r>
              <a:rPr>
                <a:solidFill>
                  <a:srgbClr val="F8FAFC"/>
                </a:solidFill>
              </a:rPr>
              <a:t>Strict segregation between Student and Faculty user roles.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• JWT Token Authentication: </a:t>
            </a:r>
            <a:r>
              <a:rPr>
                <a:solidFill>
                  <a:srgbClr val="F8FAFC"/>
                </a:solidFill>
              </a:rPr>
              <a:t>Encrypted session tokens protecting all private API endpoints.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• Data Isolation: </a:t>
            </a:r>
            <a:r>
              <a:rPr>
                <a:solidFill>
                  <a:srgbClr val="F8FAFC"/>
                </a:solidFill>
              </a:rPr>
              <a:t>Projects, reports, and chat histories keyed by unique student ID.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• Environment Secret Hygiene: </a:t>
            </a:r>
            <a:r>
              <a:rPr>
                <a:solidFill>
                  <a:srgbClr val="F8FAFC"/>
                </a:solidFill>
              </a:rPr>
              <a:t>API keys and database credentials strictly isolated in `.env`.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• Input Sanitization: </a:t>
            </a:r>
            <a:r>
              <a:rPr>
                <a:solidFill>
                  <a:srgbClr val="F8FAFC"/>
                </a:solidFill>
              </a:rPr>
              <a:t>Pydantic guards against prompt injection and malicious payloads.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82036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0B981"/>
                </a:solidFill>
                <a:latin typeface="Calibri"/>
              </a:defRPr>
            </a:pPr>
            <a:r>
              <a:t>Resiliency &amp; Offline Continuity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• Dual-Persistence Architecture: </a:t>
            </a:r>
            <a:r>
              <a:rPr>
                <a:solidFill>
                  <a:srgbClr val="F8FAFC"/>
                </a:solidFill>
              </a:rPr>
              <a:t>Cloud MongoDB Atlas primary with automatic local JSON fallback.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• Network Health Check: </a:t>
            </a:r>
            <a:r>
              <a:rPr>
                <a:solidFill>
                  <a:srgbClr val="F8FAFC"/>
                </a:solidFill>
              </a:rPr>
              <a:t>FastAPI startup hooks ping DB connection with detailed diagnostics.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• LiteLLM Model Fallback: </a:t>
            </a:r>
            <a:r>
              <a:rPr>
                <a:solidFill>
                  <a:srgbClr val="F8FAFC"/>
                </a:solidFill>
              </a:rPr>
              <a:t>Gracefully cascades to alternative models if primary Groq model throttles.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• Heuristic Engine: </a:t>
            </a:r>
            <a:r>
              <a:rPr>
                <a:solidFill>
                  <a:srgbClr val="F8FAFC"/>
                </a:solidFill>
              </a:rPr>
              <a:t>Generates deterministic rule-based reports if LLM is completely unreachable.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• Optimistic UI Updates: </a:t>
            </a:r>
            <a:r>
              <a:rPr>
                <a:solidFill>
                  <a:srgbClr val="F8FAFC"/>
                </a:solidFill>
              </a:rPr>
              <a:t>Frontend updates state immediately with background sync.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Calibri"/>
              </a:defRPr>
            </a:pPr>
            <a:r>
              <a:t>INFOSYS SPRINGBOARD 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Calibri"/>
              </a:defRPr>
            </a:pPr>
            <a:r>
              <a:t>Quantitative Academic Impact &amp; Scalability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82036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6B6D4"/>
                </a:solidFill>
                <a:latin typeface="Calibri"/>
              </a:defRPr>
            </a:pPr>
            <a:r>
              <a:t>1. Student Efficiency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• Instant Feedback: </a:t>
            </a:r>
            <a:r>
              <a:rPr>
                <a:solidFill>
                  <a:srgbClr val="F8FAFC"/>
                </a:solidFill>
              </a:rPr>
              <a:t>Reduced proposal vetting time from 14 days to &lt;10 seconds.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• Scope Clarity: </a:t>
            </a:r>
            <a:r>
              <a:rPr>
                <a:solidFill>
                  <a:srgbClr val="F8FAFC"/>
                </a:solidFill>
              </a:rPr>
              <a:t>Zero scope creep incidents by establishing explicit In/Out boundaries.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• Stack Confidence: </a:t>
            </a:r>
            <a:r>
              <a:rPr>
                <a:solidFill>
                  <a:srgbClr val="F8FAFC"/>
                </a:solidFill>
              </a:rPr>
              <a:t>Eliminates trial-and-error framework selection with skill matching.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• Document Drafting: </a:t>
            </a:r>
            <a:r>
              <a:rPr>
                <a:solidFill>
                  <a:srgbClr val="F8FAFC"/>
                </a:solidFill>
              </a:rPr>
              <a:t>Saved 15+ hours per team compiling project synopses.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182036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6366F1"/>
                </a:solidFill>
                <a:latin typeface="Calibri"/>
              </a:defRPr>
            </a:pPr>
            <a:r>
              <a:t>2. Faculty Productivity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• 70% Time Saved: </a:t>
            </a:r>
            <a:r>
              <a:rPr>
                <a:solidFill>
                  <a:srgbClr val="F8FAFC"/>
                </a:solidFill>
              </a:rPr>
              <a:t>Automates routine validation so faculty focus on core research guidance.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• Cohort Oversight: </a:t>
            </a:r>
            <a:r>
              <a:rPr>
                <a:solidFill>
                  <a:srgbClr val="F8FAFC"/>
                </a:solidFill>
              </a:rPr>
              <a:t>Supervise 50+ student teams effortlessly via unified health analytics.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• Early Warning: </a:t>
            </a:r>
            <a:r>
              <a:rPr>
                <a:solidFill>
                  <a:srgbClr val="F8FAFC"/>
                </a:solidFill>
              </a:rPr>
              <a:t>At-risk flags catch failing teams 4 weeks before final examinations.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• Digital Audit Trail: </a:t>
            </a:r>
            <a:r>
              <a:rPr>
                <a:solidFill>
                  <a:srgbClr val="F8FAFC"/>
                </a:solidFill>
              </a:rPr>
              <a:t>One-click milestone verification replaces manual paper sign-offs.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182036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0B981"/>
                </a:solidFill>
                <a:latin typeface="Calibri"/>
              </a:defRPr>
            </a:pPr>
            <a:r>
              <a:t>3. Institutional Scalability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• Zero Cloud Cost: </a:t>
            </a:r>
            <a:r>
              <a:rPr>
                <a:solidFill>
                  <a:srgbClr val="F8FAFC"/>
                </a:solidFill>
              </a:rPr>
              <a:t>Free-tier MongoDB Atlas + Groq API + Vercel/Render architecture.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• Horizontal Scaling: </a:t>
            </a:r>
            <a:r>
              <a:rPr>
                <a:solidFill>
                  <a:srgbClr val="F8FAFC"/>
                </a:solidFill>
              </a:rPr>
              <a:t>FastAPI async workers easily scale to thousands of concurrent users.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• Cross-Departmental: </a:t>
            </a:r>
            <a:r>
              <a:rPr>
                <a:solidFill>
                  <a:srgbClr val="F8FAFC"/>
                </a:solidFill>
              </a:rPr>
              <a:t>Easily configured for CSE, IT, ECE, AI/DS, and Mech capstones.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• Accreditation Ready: </a:t>
            </a:r>
            <a:r>
              <a:rPr>
                <a:solidFill>
                  <a:srgbClr val="F8FAFC"/>
                </a:solidFill>
              </a:rPr>
              <a:t>Generates complete outcome-based education (OBE) documentation.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Calibri"/>
              </a:defRPr>
            </a:pPr>
            <a:r>
              <a:t>VIVA DEFENSE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Calibri"/>
              </a:defRPr>
            </a:pPr>
            <a:r>
              <a:t>Conclusion, Future Horizons &amp; Live Demonstration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82036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6366F1"/>
                </a:solidFill>
                <a:latin typeface="Calibri"/>
              </a:defRPr>
            </a:pPr>
            <a:r>
              <a:t>Key Accomplishments Delivered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• Fullstack Ecosystem: </a:t>
            </a:r>
            <a:r>
              <a:rPr>
                <a:solidFill>
                  <a:srgbClr val="F8FAFC"/>
                </a:solidFill>
              </a:rPr>
              <a:t>Built and deployed end-to-end platform (React 19 + FastAPI + MongoDB).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• Multi-Agent Intelligence: </a:t>
            </a:r>
            <a:r>
              <a:rPr>
                <a:solidFill>
                  <a:srgbClr val="F8FAFC"/>
                </a:solidFill>
              </a:rPr>
              <a:t>Operationalized 8 autonomous AI agents using Groq LLaMA-3.3-70B.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• Agile Rigor: </a:t>
            </a:r>
            <a:r>
              <a:rPr>
                <a:solidFill>
                  <a:srgbClr val="F8FAFC"/>
                </a:solidFill>
              </a:rPr>
              <a:t>Delivered 146 Story Points across 4 Sprints with comprehensive documentation.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• Robust Quality: </a:t>
            </a:r>
            <a:r>
              <a:rPr>
                <a:solidFill>
                  <a:srgbClr val="F8FAFC"/>
                </a:solidFill>
              </a:rPr>
              <a:t>118 automated tests passing, 0 runtime errors, complete offline resiliency.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• Faculty Empowerment: </a:t>
            </a:r>
            <a:r>
              <a:rPr>
                <a:solidFill>
                  <a:srgbClr val="F8FAFC"/>
                </a:solidFill>
              </a:rPr>
              <a:t>Delivered cohort analytics, milestone sign-offs, and broadcast alerts.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• Ready for Evaluation: </a:t>
            </a:r>
            <a:r>
              <a:rPr>
                <a:solidFill>
                  <a:srgbClr val="F8FAFC"/>
                </a:solidFill>
              </a:rPr>
              <a:t>Complete turn-key repository with automated live demo scripts.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82036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6B6D4"/>
                </a:solidFill>
                <a:latin typeface="Calibri"/>
              </a:defRPr>
            </a:pPr>
            <a:r>
              <a:t>Future Horizons &amp; Live Demonstration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• LMS Integration: </a:t>
            </a:r>
            <a:r>
              <a:rPr>
                <a:solidFill>
                  <a:srgbClr val="F8FAFC"/>
                </a:solidFill>
              </a:rPr>
              <a:t>Native plugins for Canvas, Moodle, and Google Classroom.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• Automated Code Grading: </a:t>
            </a:r>
            <a:r>
              <a:rPr>
                <a:solidFill>
                  <a:srgbClr val="F8FAFC"/>
                </a:solidFill>
              </a:rPr>
              <a:t>AST &amp; Git commit analyzer to verify code quality against scope.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• Vector RAG Repository: </a:t>
            </a:r>
            <a:r>
              <a:rPr>
                <a:solidFill>
                  <a:srgbClr val="F8FAFC"/>
                </a:solidFill>
              </a:rPr>
              <a:t>Semantic search across previous years' high-scoring capstones.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• Live Demo Navigation: </a:t>
            </a:r>
            <a:r>
              <a:rPr>
                <a:solidFill>
                  <a:srgbClr val="F8FAFC"/>
                </a:solidFill>
              </a:rPr>
              <a:t>1. Student Onboarding ➔ 2. AI Agent Execution ➔ 3. AI Mentor Voice Chat ➔ 4. Faculty Cohort Governance Hub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• Q&amp;A Defense Session: </a:t>
            </a:r>
            <a:r>
              <a:rPr>
                <a:solidFill>
                  <a:srgbClr val="F8FAFC"/>
                </a:solidFill>
              </a:rPr>
              <a:t>We invite the respected evaluation panel for comments &amp; inquiries!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06B6D4"/>
                </a:solidFill>
              </a:rPr>
              <a:t>• GitHub Repository: </a:t>
            </a:r>
            <a:r>
              <a:rPr>
                <a:solidFill>
                  <a:srgbClr val="F8FAFC"/>
                </a:solidFill>
              </a:rPr>
              <a:t>github.com/Karthik-web1616/ProjectGuide-AI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